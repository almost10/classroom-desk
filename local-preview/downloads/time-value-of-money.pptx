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s/slide1.xml" ContentType="application/vnd.openxmlformats-officedocument.presentationml.slide+xml"/>
  <ns0:Override PartName="/ppt/slideLayouts/slideLayout1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heme/theme1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wide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slides/slide1.xml" /><ns0:Relationship Id="rId2" Type="http://schemas.openxmlformats.org/officeDocument/2006/relationships/slideMaster" Target="slideMasters/slideMaster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 showMasterSp="1">
  <p:cSld name="Present va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950000" y="600000"/>
            <a:ext cx="10600000" cy="1200000"/>
          </a:xfrm>
          <a:prstGeom prst="rect">
            <a:avLst/>
          </a:prstGeom>
        </p:spPr>
        <p:txBody>
          <a:bodyPr wrap="square" anchor="t"/>
          <a:lstStyle/>
          <a:p>
            <a:pPr/>
            <a:r>
              <a:rPr lang="en-US" sz="2900"/>
              <a:t>Present value</a:t>
            </a:r>
            <a:endParaRPr lang="en-US"/>
          </a:p>
        </p:txBody>
      </p:sp>
      <p:sp>
        <p:nvSpPr>
          <p:cNvPr id="3" name="Content"/>
          <p:cNvSpPr txBox="1"/>
          <p:nvPr>
            <p:ph type="body"/>
          </p:nvPr>
        </p:nvSpPr>
        <p:spPr>
          <a:xfrm>
            <a:off x="1100000" y="2100000"/>
            <a:ext cx="10000000" cy="430000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•"/>
            </a:pPr>
            <a:r>
              <a:rPr lang="en-US" sz="2100"/>
              <a:t>Money today can earn a return.</a:t>
            </a:r>
            <a:endParaRPr lang="en-US"/>
          </a:p>
          <a:p>
            <a:pPr>
              <a:buChar char="•"/>
            </a:pPr>
            <a:r>
              <a:rPr lang="en-US" sz="2100"/>
              <a:t>Discounting makes future cash flows comparable with cash today.</a:t>
            </a:r>
            <a:endParaRPr lang="en-US"/>
          </a:p>
          <a:p>
            <a:pPr>
              <a:buChar char="•"/>
            </a:pPr>
            <a:r>
              <a:rPr lang="en-US" sz="2100"/>
              <a:t>Formula: PV = FV / (1 + r)ⁿ</a:t>
            </a:r>
            <a:endParaRPr lang="en-US"/>
          </a:p>
          <a:p>
            <a:pPr>
              <a:buChar char="•"/>
            </a:pPr>
            <a:r>
              <a:rPr lang="en-US" sz="2100"/>
              <a:t>Example: $10,000 / (1.08)³ = $7,938.32.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room Desk">
  <a:themeElements>
    <a:clrScheme name="Classroom Desk">
      <a:dk1>
        <a:sysClr val="windowText" lastClr="15241D"/>
      </a:dk1>
      <a:lt1>
        <a:sysClr val="window" lastClr="F6F7F1"/>
      </a:lt1>
      <a:dk2>
        <a:srgbClr val="314639"/>
      </a:dk2>
      <a:lt2>
        <a:srgbClr val="FFFFFF"/>
      </a:lt2>
      <a:accent1>
        <a:srgbClr val="456C50"/>
      </a:accent1>
      <a:accent2>
        <a:srgbClr val="B6CE93"/>
      </a:accent2>
      <a:accent3>
        <a:srgbClr val="B7945E"/>
      </a:accent3>
      <a:accent4>
        <a:srgbClr val="6A8EA0"/>
      </a:accent4>
      <a:accent5>
        <a:srgbClr val="8F7DA2"/>
      </a:accent5>
      <a:accent6>
        <a:srgbClr val="7D9180"/>
      </a:accent6>
      <a:hlink>
        <a:srgbClr val="426B91"/>
      </a:hlink>
      <a:folHlink>
        <a:srgbClr val="755575"/>
      </a:folHlink>
    </a:clrScheme>
    <a:fontScheme name="Classroom Desk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lassroom Des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